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</p:embeddedFontLst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202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032B8D-2B0A-4D4B-9CB9-CF31891BB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9E384A-7D25-4CD4-AD5C-D643AD60D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547453-F3CD-4886-B2B2-12514199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768887-F690-4819-9C90-52B322F4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BFDD7-C5F5-4379-BA41-9F6E661A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047495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E573D-7BB9-4406-BD27-B4F758D4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32976-7568-41E1-9918-4AF292F80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22C753-9211-4069-8238-AC7BE8AF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563367-730E-4698-9FA0-1668B6DE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3005E5-37C0-462F-BF99-2A00869A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117826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9C8ED-C5F0-4C94-B0C8-0CDEE54EF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C8A78A-D1EA-4FFC-990E-C228B254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2EE770-F42A-4DFB-B832-26288601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F7432-8ECA-4963-A387-8F61E7630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12C4C7-025C-41E8-A561-C17AE9D39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071212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E2967-0905-463C-B011-F88DD539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54EA7-E2F4-4C2F-B291-85C6282B0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54292A-3823-4FD9-BE70-EE8306CF6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3EED23-ABFC-45C6-A8C3-60D42844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B51ABA-DD08-47DE-9402-D603B14B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9716D-CBF9-4DD4-AAC1-30874BD9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955339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869E2-9997-40C1-8CAB-DD91CD92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438BF-E5E1-4CB7-902C-731369FFF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B89AC8-037B-4938-8161-D21AE6CD9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D1F1B67-A1EF-4005-932B-B4FD2B05C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870650-DBAF-4139-998E-6DA8A210FC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4033385-03B8-40AE-86BE-C0ADBAC7F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591A3F-465E-4CB2-803E-278EC4040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5DC41AA-AAB1-4928-ADD5-4D050E67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1017791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19A5E-836D-48B6-97E3-F2D15DEB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19D940-8DD1-437A-BB23-9F877DB3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F87360-4A8E-4ABE-B87B-DAE5AD95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F153C9-FE4B-4C63-9475-122C95C9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272264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4C057DA-C57C-4546-A636-F3C816B5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FFDA0A-754B-4411-8F61-FF3882EC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529B41-62A0-4EE3-9466-D507E19F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977524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71C46-3CC3-45F6-A3A7-95AA18220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369A3D-6103-472C-8C39-0930C6F9C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6F511B-1260-449F-ACA6-55FA44ACF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3F9498-3CF9-4842-8800-A51EDDF90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DCC23E-9612-48FE-9B38-971EAC00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BE7ACD-4509-4D04-924E-8515895F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46870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607282-ECB2-4489-A702-86B11FAE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D4D6ED-95DB-4A16-9CFB-C8F6894EF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D32157-5530-4FE9-9AB6-01CA0FC8A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758127-3526-4447-934B-10A3A9C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02BFFC-3D7F-4604-98D3-D2D4A3DAD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D9A0D0-3876-4B5A-9134-40917562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044265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8FF25-B0AC-4A8F-85EF-DAC314496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4F8B28-B836-494A-B281-DB0AA1764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500B6F-7F05-409F-852D-F444EFCA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EF0DCB-85DA-4E8F-AFC4-B2F78E2E4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E4D45C-158D-42EA-B765-DDEFC7B46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1806400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712664-BC90-4A3E-955E-517A572CFC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6E4C322-DE31-4A76-96D8-B039C9378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286839-7720-48A7-BBEB-7601090F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D389A7-1246-43EB-B610-0A9D8D9C3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F44EC-B8A4-470B-A5B0-CEC6E03D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280558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111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387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48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621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45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8821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7513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2301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898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33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2FBC7-1825-4A0C-B3B6-7D9EA3CD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4F811E-8334-4A89-B05E-A8545638C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292AAE-D2ED-41C7-A9DA-EE98CA72F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6879-A9AB-4D04-9AC7-3BD2B4243BCC}" type="datetimeFigureOut">
              <a:rPr lang="ru-BY" smtClean="0"/>
              <a:t>13.05.2026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292CC-C1FB-44B1-9C1B-6D37B6EC4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936913-A814-4943-A676-B9202C810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24D92-F3C2-4384-9E6B-CE01A5608211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9711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0" y="1667292"/>
            <a:ext cx="9144000" cy="2049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Система документооборота с чат-ботом и нейросетевой обработкой документов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90625" y="606762"/>
            <a:ext cx="6762750" cy="866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Белорусский государственный университет информатики и радиоэлектроники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8649" y="4161960"/>
            <a:ext cx="1508125" cy="457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Автор: </a:t>
            </a:r>
            <a:br>
              <a:rPr lang="ru-RU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</a:b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Каплич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В.А.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A0FD9-CC3B-415A-A03F-5D6D24F397DE}"/>
              </a:ext>
            </a:extLst>
          </p:cNvPr>
          <p:cNvSpPr txBox="1"/>
          <p:nvPr/>
        </p:nvSpPr>
        <p:spPr>
          <a:xfrm>
            <a:off x="6569075" y="4026954"/>
            <a:ext cx="2070101" cy="766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Руководитель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: </a:t>
            </a: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Богдан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Е.В.</a:t>
            </a:r>
            <a:endParaRPr lang="ru-BY" sz="2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453316-3A04-4A9A-8D7B-A0D60BF21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291" y="4026954"/>
            <a:ext cx="739418" cy="6654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3289" y="51527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1. Цели и задачи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0192" y="1447501"/>
            <a:ext cx="318939" cy="318939"/>
          </a:xfrm>
          <a:prstGeom prst="roundRect">
            <a:avLst>
              <a:gd name="adj" fmla="val 6667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5" name="Text 2"/>
          <p:cNvSpPr/>
          <p:nvPr/>
        </p:nvSpPr>
        <p:spPr>
          <a:xfrm>
            <a:off x="473360" y="147086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5772" y="2670360"/>
            <a:ext cx="318939" cy="318939"/>
          </a:xfrm>
          <a:prstGeom prst="roundRect">
            <a:avLst>
              <a:gd name="adj" fmla="val 6667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9" name="Text 6"/>
          <p:cNvSpPr/>
          <p:nvPr/>
        </p:nvSpPr>
        <p:spPr>
          <a:xfrm>
            <a:off x="498940" y="269692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A15533-3E3F-46D1-B0DE-37541672A3ED}"/>
              </a:ext>
            </a:extLst>
          </p:cNvPr>
          <p:cNvSpPr txBox="1"/>
          <p:nvPr/>
        </p:nvSpPr>
        <p:spPr>
          <a:xfrm>
            <a:off x="765810" y="1345778"/>
            <a:ext cx="7904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l" rtl="0"/>
            <a:r>
              <a:rPr lang="ru-RU" sz="20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 проекта: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азработка интеллектуальной системы электронного документооборота для автоматизации процессов согласования, утверждения и маршрутизации документов.</a:t>
            </a:r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712B9-CBE7-4FD0-A9A1-3D01AA343383}"/>
              </a:ext>
            </a:extLst>
          </p:cNvPr>
          <p:cNvSpPr txBox="1"/>
          <p:nvPr/>
        </p:nvSpPr>
        <p:spPr>
          <a:xfrm>
            <a:off x="792490" y="2564798"/>
            <a:ext cx="79048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Задача</a:t>
            </a:r>
            <a:r>
              <a:rPr lang="ru-RU" sz="2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проекта: </a:t>
            </a:r>
            <a:br>
              <a:rPr lang="ru-RU" sz="2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Самостоятельно обучить нейросеть для распознавания.</a:t>
            </a:r>
          </a:p>
          <a:p>
            <a:pPr algn="l"/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Внедрить </a:t>
            </a:r>
            <a:r>
              <a:rPr lang="ru-RU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нейросетевой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модуль в </a:t>
            </a:r>
            <a:r>
              <a:rPr lang="ru-RU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Telegram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-бота для </a:t>
            </a:r>
            <a:r>
              <a:rPr lang="ru-RU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автогенерации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PDF из фотографий.</a:t>
            </a:r>
          </a:p>
          <a:p>
            <a:pPr algn="l"/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Разработать клиент-серверное приложение на PyQt6 и </a:t>
            </a:r>
            <a:r>
              <a:rPr lang="ru-RU" sz="200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для управления документооборотом.</a:t>
            </a:r>
          </a:p>
          <a:p>
            <a:pPr marR="0" algn="l" rtl="0"/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7BED5B9-974C-4D82-A0A7-95781DB79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014019" y="1227496"/>
            <a:ext cx="3623369" cy="317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4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Данные сотрудника: ФИО, должность, </a:t>
            </a: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отдел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,</a:t>
            </a:r>
            <a:r>
              <a:rPr lang="ru-RU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мобильный </a:t>
            </a: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телефон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, </a:t>
            </a:r>
            <a:r>
              <a:rPr lang="ru-RU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электронная почта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, </a:t>
            </a:r>
            <a:r>
              <a:rPr lang="ru-RU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дата рождения, подразделение,</a:t>
            </a:r>
          </a:p>
          <a:p>
            <a:pPr marL="342900" indent="-342900" algn="l">
              <a:lnSpc>
                <a:spcPct val="11400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14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Пользователь </a:t>
            </a: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может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редактировать мобильный</a:t>
            </a: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телефон и </a:t>
            </a:r>
            <a:r>
              <a:rPr lang="en-US" sz="2000" dirty="0" err="1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почту</a:t>
            </a:r>
            <a:endParaRPr lang="ru-RU" sz="2000" dirty="0">
              <a:latin typeface="Arial" panose="020B0604020202020204" pitchFamily="34" charset="0"/>
              <a:ea typeface="Source Serif 4" pitchFamily="34" charset="-122"/>
              <a:cs typeface="Arial" panose="020B0604020202020204" pitchFamily="34" charset="0"/>
            </a:endParaRPr>
          </a:p>
          <a:p>
            <a:pPr algn="l">
              <a:lnSpc>
                <a:spcPts val="1750"/>
              </a:lnSpc>
              <a:buSzPct val="100000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77FB9C-F4DE-49C7-8FAC-FAFA850C0A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63" t="1724" r="52916" b="45786"/>
          <a:stretch/>
        </p:blipFill>
        <p:spPr>
          <a:xfrm>
            <a:off x="491431" y="1122263"/>
            <a:ext cx="4080570" cy="35270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7C017E19-43E5-48F2-8521-A0AFA4818931}"/>
              </a:ext>
            </a:extLst>
          </p:cNvPr>
          <p:cNvSpPr/>
          <p:nvPr/>
        </p:nvSpPr>
        <p:spPr>
          <a:xfrm>
            <a:off x="363289" y="51527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4000" dirty="0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2. </a:t>
            </a:r>
            <a:r>
              <a:rPr lang="en-US" sz="4000" dirty="0" err="1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Профиль</a:t>
            </a:r>
            <a:r>
              <a:rPr lang="ru-RU" sz="4000" dirty="0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. Данные </a:t>
            </a:r>
            <a:r>
              <a:rPr lang="en-US" sz="4000" dirty="0" err="1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профиля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E09414-4687-4953-9E53-FA7FC1E29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3289" y="2728391"/>
            <a:ext cx="2332286" cy="618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000" b="1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Загрузить данные </a:t>
            </a:r>
            <a:br>
              <a:rPr lang="ru-RU" sz="2000" b="1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</a:br>
            <a:r>
              <a:rPr lang="ru-RU" sz="2000" b="1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о переработках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3289" y="3511600"/>
            <a:ext cx="2332286" cy="102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Для загрузки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Excel 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файла с данными КПП предприятия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3825404" y="2864272"/>
            <a:ext cx="1681383" cy="34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000" b="1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Переработки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825404" y="3511601"/>
            <a:ext cx="2623023" cy="1022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Отображение информации о переработках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792216" y="2871527"/>
            <a:ext cx="1123059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ru-RU" sz="2000" b="1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Э</a:t>
            </a:r>
            <a:r>
              <a:rPr lang="en-US" sz="2000" b="1" dirty="0" err="1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кспорт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792216" y="3511601"/>
            <a:ext cx="2233790" cy="10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Экспорт всех переработок в Excel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по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периоду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 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DFAE85F0-B123-4062-AE51-0680962D3801}"/>
              </a:ext>
            </a:extLst>
          </p:cNvPr>
          <p:cNvSpPr/>
          <p:nvPr/>
        </p:nvSpPr>
        <p:spPr>
          <a:xfrm>
            <a:off x="363289" y="515273"/>
            <a:ext cx="73233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2. Профиль. </a:t>
            </a:r>
            <a:r>
              <a:rPr lang="en-US" sz="4000" dirty="0" err="1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Переработки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7CE7DB-DB75-4CC6-A748-F898DABDD8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61" t="54215" b="17293"/>
          <a:stretch/>
        </p:blipFill>
        <p:spPr>
          <a:xfrm>
            <a:off x="363289" y="1043314"/>
            <a:ext cx="8399466" cy="15284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8AD5EB7-744B-4B8B-A5C9-B3F2534DE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53944" y="1101551"/>
            <a:ext cx="2990031" cy="136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Таблица документов с настраиваемыми столбцами, фильтрами и статусами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53944" y="2575693"/>
            <a:ext cx="2990031" cy="232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Поиск по параметрам документа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1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Столбцы: настройка видимости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1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Статусы и подсветка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срока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ответа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5D512F-BF1E-4447-B8BB-6392328606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20154" b="455"/>
          <a:stretch/>
        </p:blipFill>
        <p:spPr>
          <a:xfrm>
            <a:off x="415529" y="1102668"/>
            <a:ext cx="5356621" cy="36312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C7F8849E-7956-4462-BCC5-8E7BD6C1D343}"/>
              </a:ext>
            </a:extLst>
          </p:cNvPr>
          <p:cNvSpPr/>
          <p:nvPr/>
        </p:nvSpPr>
        <p:spPr>
          <a:xfrm>
            <a:off x="363289" y="515273"/>
            <a:ext cx="73233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solidFill>
                  <a:srgbClr val="201B18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3. Страницы типов документов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B8FDBEE-7028-47A3-BCD0-40ED1B2EA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3AE344CA-4518-4AA4-9613-92428507A321}"/>
              </a:ext>
            </a:extLst>
          </p:cNvPr>
          <p:cNvSpPr/>
          <p:nvPr/>
        </p:nvSpPr>
        <p:spPr>
          <a:xfrm>
            <a:off x="363289" y="515273"/>
            <a:ext cx="31038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4. </a:t>
            </a:r>
            <a:r>
              <a:rPr lang="en-US" sz="4000" dirty="0" err="1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Настройки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06895C-6A29-463A-A89D-26D63CBDC3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46" t="2222" r="2739" b="12960"/>
          <a:stretch/>
        </p:blipFill>
        <p:spPr>
          <a:xfrm>
            <a:off x="363289" y="1201861"/>
            <a:ext cx="4999286" cy="30339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CC496B7-ADDB-4358-A549-A45D9C24D7C2}"/>
              </a:ext>
            </a:extLst>
          </p:cNvPr>
          <p:cNvSpPr txBox="1"/>
          <p:nvPr/>
        </p:nvSpPr>
        <p:spPr>
          <a:xfrm>
            <a:off x="5439971" y="1201861"/>
            <a:ext cx="3645458" cy="249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Пользователь: только просмотр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Администратор: управление системой, кроме системных тегов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ru-RU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Суперадминистратор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полный доступ</a:t>
            </a:r>
            <a:endParaRPr lang="ru-BY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E85DA9E1-B7F0-4529-8C36-32F93CF73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0CFE3CE8-D487-4472-AD09-DF4883121E4F}"/>
              </a:ext>
            </a:extLst>
          </p:cNvPr>
          <p:cNvSpPr/>
          <p:nvPr/>
        </p:nvSpPr>
        <p:spPr>
          <a:xfrm>
            <a:off x="363289" y="515273"/>
            <a:ext cx="48564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4. </a:t>
            </a:r>
            <a:r>
              <a:rPr lang="en-US" sz="4000" dirty="0" err="1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Настройки</a:t>
            </a: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. Доступ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1B4792-6040-40A7-AF3F-78D5114424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10" t="12883" r="2083" b="4826"/>
          <a:stretch/>
        </p:blipFill>
        <p:spPr>
          <a:xfrm>
            <a:off x="999706" y="1085260"/>
            <a:ext cx="7144588" cy="37461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57511-AF70-48BA-9AD5-BE14B74C3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528F991E-E5E2-4C32-BDD7-B4FD7F9100E9}"/>
              </a:ext>
            </a:extLst>
          </p:cNvPr>
          <p:cNvSpPr/>
          <p:nvPr/>
        </p:nvSpPr>
        <p:spPr>
          <a:xfrm>
            <a:off x="363289" y="515273"/>
            <a:ext cx="48564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5. Управление БД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3131F07-05E1-4C83-BE11-3D983BA926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05" t="1791" r="176" b="38316"/>
          <a:stretch/>
        </p:blipFill>
        <p:spPr>
          <a:xfrm>
            <a:off x="311150" y="1046373"/>
            <a:ext cx="8578850" cy="3247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7069843-DD7C-4FC2-AE2E-62E39C970A26}"/>
              </a:ext>
            </a:extLst>
          </p:cNvPr>
          <p:cNvSpPr txBox="1"/>
          <p:nvPr/>
        </p:nvSpPr>
        <p:spPr>
          <a:xfrm>
            <a:off x="254000" y="4495800"/>
            <a:ext cx="8578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Доступ имеет только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суперадминистратор</a:t>
            </a:r>
            <a:endParaRPr lang="ru-BY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B98336-2101-40DA-BA92-43421D67C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65B90677-C08F-41D3-A37A-0A97AAA91535}"/>
              </a:ext>
            </a:extLst>
          </p:cNvPr>
          <p:cNvSpPr/>
          <p:nvPr/>
        </p:nvSpPr>
        <p:spPr>
          <a:xfrm>
            <a:off x="363289" y="515273"/>
            <a:ext cx="48564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6. Чат-бот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681647C-FEA3-4CF1-920A-7BD8B01330B0}"/>
              </a:ext>
            </a:extLst>
          </p:cNvPr>
          <p:cNvSpPr/>
          <p:nvPr/>
        </p:nvSpPr>
        <p:spPr>
          <a:xfrm>
            <a:off x="4157504" y="992991"/>
            <a:ext cx="4732496" cy="3635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/start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ткрыть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главное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меню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бота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Instrument Sans Medium" pitchFamily="34" charset="-122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/scan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оздать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документ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из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фото</a:t>
            </a:r>
            <a:endParaRPr lang="ru-RU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Instrument Sans Medium" pitchFamily="34" charset="-122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/</a:t>
            </a:r>
            <a:r>
              <a:rPr lang="en-US" sz="2000" b="1" dirty="0" err="1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auto_doc</a:t>
            </a:r>
            <a:r>
              <a:rPr lang="ru-RU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 р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аспознавание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текста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и </a:t>
            </a:r>
            <a:b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автоматическое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создание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документа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/help</a:t>
            </a:r>
            <a:r>
              <a:rPr lang="ru-RU" sz="2000" b="1" dirty="0"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 з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адать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вопрос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администратору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b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</a:b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напрямую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3000"/>
              </a:lnSpc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3000"/>
              </a:lnSpc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BF4D4BA-C5EA-4CBA-9B0E-636655D6C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961242" y="1291259"/>
            <a:ext cx="7672227" cy="174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3000"/>
              </a:lnSpc>
              <a:buSzPct val="100000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Система повышает скорость обработки документов и прозрачность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учета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переработок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Source Serif 4" pitchFamily="34" charset="-122"/>
              <a:cs typeface="Arial" panose="020B0604020202020204" pitchFamily="34" charset="0"/>
            </a:endParaRPr>
          </a:p>
          <a:p>
            <a:pPr algn="l">
              <a:lnSpc>
                <a:spcPct val="113000"/>
              </a:lnSpc>
              <a:buSzPct val="100000"/>
            </a:pPr>
            <a:endParaRPr lang="ru-RU" sz="1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13000"/>
              </a:lnSpc>
              <a:buSzPct val="100000"/>
            </a:pP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Чат‑бот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облегчает поиск и уведомления, нейросеть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ускоряет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классификацию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D415D938-6054-401D-9B00-ECF1937FD93E}"/>
              </a:ext>
            </a:extLst>
          </p:cNvPr>
          <p:cNvSpPr/>
          <p:nvPr/>
        </p:nvSpPr>
        <p:spPr>
          <a:xfrm>
            <a:off x="363289" y="515273"/>
            <a:ext cx="485641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ru-RU" sz="4000" dirty="0"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7. Выводы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5FF28BAF-E88F-4062-A0CA-944D8028196C}"/>
              </a:ext>
            </a:extLst>
          </p:cNvPr>
          <p:cNvSpPr/>
          <p:nvPr/>
        </p:nvSpPr>
        <p:spPr>
          <a:xfrm>
            <a:off x="383021" y="1349367"/>
            <a:ext cx="318939" cy="318939"/>
          </a:xfrm>
          <a:prstGeom prst="roundRect">
            <a:avLst>
              <a:gd name="adj" fmla="val 6667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6B249DF4-C02F-4E00-8D55-65F7FE926EB5}"/>
              </a:ext>
            </a:extLst>
          </p:cNvPr>
          <p:cNvSpPr/>
          <p:nvPr/>
        </p:nvSpPr>
        <p:spPr>
          <a:xfrm>
            <a:off x="436189" y="1375932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0220014-36F9-4492-8DD9-CCCDC6A49A51}"/>
              </a:ext>
            </a:extLst>
          </p:cNvPr>
          <p:cNvSpPr/>
          <p:nvPr/>
        </p:nvSpPr>
        <p:spPr>
          <a:xfrm>
            <a:off x="381920" y="2207808"/>
            <a:ext cx="318939" cy="318939"/>
          </a:xfrm>
          <a:prstGeom prst="roundRect">
            <a:avLst>
              <a:gd name="adj" fmla="val 6667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8FECFBE-FB05-4458-A894-F2346FDF5369}"/>
              </a:ext>
            </a:extLst>
          </p:cNvPr>
          <p:cNvSpPr/>
          <p:nvPr/>
        </p:nvSpPr>
        <p:spPr>
          <a:xfrm>
            <a:off x="436189" y="223437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Platypi Medium" pitchFamily="34" charset="-122"/>
                <a:cs typeface="Arial" panose="020B0604020202020204" pitchFamily="34" charset="0"/>
              </a:rPr>
              <a:t>2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8BA0D84-E79A-4D1F-8BAC-7CD8DB9F1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604255"/>
            <a:ext cx="431086" cy="387977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629C873-6DE4-4276-B997-247317DD735E}"/>
              </a:ext>
            </a:extLst>
          </p:cNvPr>
          <p:cNvSpPr/>
          <p:nvPr/>
        </p:nvSpPr>
        <p:spPr>
          <a:xfrm>
            <a:off x="381920" y="3286353"/>
            <a:ext cx="8251549" cy="10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3000"/>
              </a:lnSpc>
              <a:buSzPct val="100000"/>
            </a:pPr>
            <a:r>
              <a:rPr lang="ru-RU" sz="2000" b="1" dirty="0"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Возможные улучшения: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асширение системы аналитики с выводом интерактивных </a:t>
            </a:r>
            <a:r>
              <a:rPr lang="ru-RU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дашбордов</a:t>
            </a:r>
            <a:r>
              <a:rPr lang="ru-RU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Source Serif 4" pitchFamily="34" charset="-122"/>
                <a:cs typeface="Arial" panose="020B0604020202020204" pitchFamily="34" charset="0"/>
              </a:rPr>
              <a:t> и отчетов, интеграция с дополнительными мессенджерами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309</Words>
  <Application>Microsoft Office PowerPoint</Application>
  <PresentationFormat>Экран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Times New Roman</vt:lpstr>
      <vt:lpstr>Calibri Light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Valeria</dc:creator>
  <cp:lastModifiedBy>Valeria</cp:lastModifiedBy>
  <cp:revision>6</cp:revision>
  <dcterms:created xsi:type="dcterms:W3CDTF">2026-05-13T11:35:53Z</dcterms:created>
  <dcterms:modified xsi:type="dcterms:W3CDTF">2026-05-13T15:12:48Z</dcterms:modified>
</cp:coreProperties>
</file>